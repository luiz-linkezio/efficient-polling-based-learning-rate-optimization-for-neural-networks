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242398" cy="685800"/>
          </a:xfrm>
          <a:prstGeom prst="rect">
            <a:avLst/>
          </a:prstGeom>
        </p:spPr>
      </p:pic>
      <p:pic>
        <p:nvPicPr>
          <p:cNvPr id="4" name="Picture 3" descr="uf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457200"/>
            <a:ext cx="1476756" cy="777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468880"/>
            <a:ext cx="12191695" cy="237744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Otimização Eficiente da Taxa de Aprendizado
por Polling para Redes Neurais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E1022"/>
                </a:solidFill>
              </a:rPr>
              <a:t>Luiz Henrique  •  José Ronaldo</a:t>
            </a:r>
          </a:p>
          <a:p>
            <a:pPr algn="ctr"/>
            <a:r>
              <a:rPr sz="1500">
                <a:solidFill>
                  <a:srgbClr val="333333"/>
                </a:solidFill>
              </a:rPr>
              <a:t>Centro de Informática (CIn) — Universidade Federal de Pernambuco (UFPE)</a:t>
            </a:r>
          </a:p>
          <a:p>
            <a:pPr algn="ctr"/>
            <a:r>
              <a:rPr sz="1300" i="1">
                <a:solidFill>
                  <a:srgbClr val="333333"/>
                </a:solidFill>
              </a:rPr>
              <a:t>Recife, Brasil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E1022"/>
                </a:solidFill>
              </a:rPr>
              <a:t>Motivação</a:t>
            </a:r>
          </a:p>
          <a:p>
            <a:r>
              <a:rPr sz="1600">
                <a:solidFill>
                  <a:srgbClr val="333333"/>
                </a:solidFill>
              </a:rPr>
              <a:t>Por que a taxa de aprendizado é tão crítica?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463040" cy="38100"/>
          </a:xfrm>
          <a:prstGeom prst="rect">
            <a:avLst/>
          </a:prstGeom>
          <a:solidFill>
            <a:srgbClr val="C9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11111"/>
                </a:solidFill>
              </a:rPr>
              <a:t>A taxa de aprendizado (LR) é um dos hiperparâmetros mais influentes no treinamento de redes neurais.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11111"/>
                </a:solidFill>
              </a:rPr>
              <a:t>LR alta demais → divergência ou oscilação. LR baixa demais → convergência lenta ou mínimos ruins.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11111"/>
                </a:solidFill>
              </a:rPr>
              <a:t>Abordagens tradicionais (decaimento por fórmula, cosine annealing, Adam, RMSProp) ajustam a LR com heurísticas fixas predefinidas — "aproveitamento" (exploitation): nunca saem do que a fórmula permite.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11111"/>
                </a:solidFill>
              </a:rPr>
              <a:t>Tan et al. propõem um paradigma diferente: polling — testar várias LRs candidatas a cada passo e escolher a que mais melhora o desempenho no lote atual.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11111"/>
                </a:solidFill>
              </a:rPr>
              <a:t>É uma forma de "exploração" (exploration) guiada por desempenho medido, sem nenhuma fórmula de decaimento.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565392"/>
            <a:ext cx="109728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2/11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Otimização Eficiente da Taxa de Aprendizado por Polling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E1022"/>
                </a:solidFill>
              </a:rPr>
              <a:t>Objetivos deste Trabalho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463040" cy="38100"/>
          </a:xfrm>
          <a:prstGeom prst="rect">
            <a:avLst/>
          </a:prstGeom>
          <a:solidFill>
            <a:srgbClr val="C9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11111"/>
                </a:solidFill>
              </a:rPr>
              <a:t>1. Replicar o Método de Polling de Tan et al.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– Cenário original: ANN simples + MNIST, LRs candidatas entre 0,01 e 0,05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– Novo cenário: CNN treinada com SGD puro no CIFAR-10, candidatas cobrindo 5 ordens de magnitude (1e-5 a 1e-1)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11111"/>
                </a:solidFill>
              </a:rPr>
              <a:t>2. Propor e avaliar uma extensão: o Método de Polling Eficiente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– Resolve o principal problema do método original: custo computacional alto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</a:rPr>
              <a:t>– Faz polling sob demanda em vez de a cada lote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11111"/>
                </a:solidFill>
              </a:rPr>
              <a:t>Comparação das duas abordagens com uma linha de base de SGD com LR fixa, ao longo de 150 épocas.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565392"/>
            <a:ext cx="109728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3/11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Otimização Eficiente da Taxa de Aprendizado por Polling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E1022"/>
                </a:solidFill>
              </a:rPr>
              <a:t>Método 1 — Polling</a:t>
            </a:r>
          </a:p>
          <a:p>
            <a:r>
              <a:rPr sz="1600">
                <a:solidFill>
                  <a:srgbClr val="333333"/>
                </a:solidFill>
              </a:rPr>
              <a:t>Replicado de Tan et al.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463040" cy="38100"/>
          </a:xfrm>
          <a:prstGeom prst="rect">
            <a:avLst/>
          </a:prstGeom>
          <a:solidFill>
            <a:srgbClr val="C9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11111"/>
                </a:solidFill>
              </a:rPr>
              <a:t>A cada lote de treinamento: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– 1. Calcula-se o gradiente g a partir dos pesos atuais θ (forward + backward, uma única vez)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– 2. Tira-se um snapshot dos pesos e do estado do otimizador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– 3. Para cada uma das N=5 LRs candidatas C = {1e-5, 1e-4, 1e-3, 1e-2, 1e-1}: aplica-se um passo experimental θ̂ₖ = θ − lrₖ·g e mede-se a acurácia no próprio lote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– 4. Escolhe-se a candidata com maior acurácia no lote (empate → menor LR)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– 5. Os pesos vencedores tornam-se o ponto de partida do próximo lote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11111"/>
                </a:solidFill>
              </a:rPr>
              <a:t>Critério de seleção: acurácia do lote (não a perda).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11111"/>
                </a:solidFill>
              </a:rPr>
              <a:t>Custo: 5 atualizações de peso experimentais por lote → mais que triplica o tempo de treino.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565392"/>
            <a:ext cx="109728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4/11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Otimização Eficiente da Taxa de Aprendizado por Polling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E1022"/>
                </a:solidFill>
              </a:rPr>
              <a:t>Método 2 — Polling Eficiente</a:t>
            </a:r>
          </a:p>
          <a:p>
            <a:r>
              <a:rPr sz="1600">
                <a:solidFill>
                  <a:srgbClr val="333333"/>
                </a:solidFill>
              </a:rPr>
              <a:t>Contribuição proposta neste trabalho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463040" cy="38100"/>
          </a:xfrm>
          <a:prstGeom prst="rect">
            <a:avLst/>
          </a:prstGeom>
          <a:solidFill>
            <a:srgbClr val="C9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</a:rPr>
              <a:t>Mesmo mecanismo de seleção do Método 1 — mas faz polling sob demanda.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</a:rPr>
              <a:t>(a) Backoff exponencial: intervalo K entre execuções de polling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– Escolha igual à anterior → K dobra (até K_max = 64)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– Escolha diferente → K volta a 1 (novo polling já no próximo lote)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– Lotes entre polls: 1 passo de SGD comum "às cegas", com a última LR vencedora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</a:rPr>
              <a:t>(b) Proteção contra divergência em 2 níveis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– Nível 1 — pico (prevenção): perda do lote &gt; γ=3 × EMA(perda, β=0,9) → força polling imediato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– Nível 2 — checkpoint/rollback (recuperação): perda não-finita ou &gt; 2·ln(10)≈4,61 → reverte ao último checkpoint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</a:rPr>
              <a:t>4 constantes (K_max=64, γ=3, β=0,9, limiar≈4,61) — nenhuma precisou de ajuste fino.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565392"/>
            <a:ext cx="109728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5/11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Otimização Eficiente da Taxa de Aprendizado por Polling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E1022"/>
                </a:solidFill>
              </a:rPr>
              <a:t>Por que a Proteção é Necessária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463040" cy="38100"/>
          </a:xfrm>
          <a:prstGeom prst="rect">
            <a:avLst/>
          </a:prstGeom>
          <a:solidFill>
            <a:srgbClr val="C9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111111"/>
                </a:solidFill>
              </a:rPr>
              <a:t>Sem o mecanismo de proteção, os passos "às cegas" não têm nenhuma validação antes de serem aplicados.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11111"/>
                </a:solidFill>
              </a:rPr>
              <a:t>Execução preliminar SEM proteção: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– Um único passo "às cegas" com LR = 1e-1 por volta da época 33 (na fase de LR alta)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– → divergência numérica: perda virou NaN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</a:rPr>
              <a:t>– → o treino NUNCA se recuperou durante as 117 épocas restantes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111111"/>
                </a:solidFill>
              </a:rPr>
              <a:t>Conclusão: a proteção em 2 níveis não é opcional — sem ela, o Polling Eficiente seria inviável.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565392"/>
            <a:ext cx="109728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6/11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Otimização Eficiente da Taxa de Aprendizado por Polling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E1022"/>
                </a:solidFill>
              </a:rPr>
              <a:t>Configuração Experimental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463040" cy="38100"/>
          </a:xfrm>
          <a:prstGeom prst="rect">
            <a:avLst/>
          </a:prstGeom>
          <a:solidFill>
            <a:srgbClr val="C9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</a:rPr>
              <a:t>Dataset: CIFAR-10 — 50.000 treino / 10.000 teste, 10 classes, 32×32 RGB (45.000 treino / 5.000 validação após split)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</a:rPr>
              <a:t>Modelo: SimpleCIFAR10CNN — CNN simples de 5 camadas, ~557.898 parâmetros, sem batch norm e sem dropout (o otimizador é a única fonte de adaptação em estudo)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</a:rPr>
              <a:t>Otimizador base: SGD puro, sem momento e sem weight decay, em todos os métodos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</a:rPr>
              <a:t>Batch size 64, 150 épocas, LR base 1e-3 — 704 lotes/época × 150 = 105.600 lotes no total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</a:rPr>
              <a:t>Mesma seed (42) para inicialização, embaralhamento e split nos 3 métodos — única diferença é a estratégia de LR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</a:rPr>
              <a:t>Hardware: 1× NVIDIA RTX 5070 (12GB)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6565392"/>
            <a:ext cx="109728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7/11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Otimização Eficiente da Taxa de Aprendizado por Polling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E1022"/>
                </a:solidFill>
              </a:rPr>
              <a:t>Resultados — Desempenho</a:t>
            </a:r>
          </a:p>
          <a:p>
            <a:r>
              <a:rPr sz="1600">
                <a:solidFill>
                  <a:srgbClr val="333333"/>
                </a:solidFill>
              </a:rPr>
              <a:t>150 épocas completas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463040" cy="38100"/>
          </a:xfrm>
          <a:prstGeom prst="rect">
            <a:avLst/>
          </a:prstGeom>
          <a:solidFill>
            <a:srgbClr val="C9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9326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  <a:gridCol w="182880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</a:rPr>
                        <a:t>Método</a:t>
                      </a:r>
                    </a:p>
                  </a:txBody>
                  <a:tcPr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Melhor Val.</a:t>
                      </a:r>
                    </a:p>
                  </a:txBody>
                  <a:tcPr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Acur. Teste</a:t>
                      </a:r>
                    </a:p>
                  </a:txBody>
                  <a:tcPr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Perda Teste</a:t>
                      </a:r>
                    </a:p>
                  </a:txBody>
                  <a:tcPr anchor="ctr">
                    <a:solidFill>
                      <a:srgbClr val="9E1B3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Linha de base (SGD fixo 1e-3)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57,28%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56,70%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1,2155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Polling (replicado)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84,65%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83,99%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0,6832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Polling Eficiente (proposto)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85,07%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83,93%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0,7319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raining_comparison_lo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041" y="3749039"/>
            <a:ext cx="5425598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565392"/>
            <a:ext cx="109728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8/11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Otimização Eficiente da Taxa de Aprendizado por Polling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E1022"/>
                </a:solidFill>
              </a:rPr>
              <a:t>Resultados — Custo Computacional</a:t>
            </a:r>
          </a:p>
          <a:p>
            <a:r>
              <a:rPr sz="1600">
                <a:solidFill>
                  <a:srgbClr val="333333"/>
                </a:solidFill>
              </a:rPr>
              <a:t>150 épocas, 105.600 lotes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463040" cy="38100"/>
          </a:xfrm>
          <a:prstGeom prst="rect">
            <a:avLst/>
          </a:prstGeom>
          <a:solidFill>
            <a:srgbClr val="C9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9326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  <a:gridCol w="182880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</a:rPr>
                        <a:t>Método</a:t>
                      </a:r>
                    </a:p>
                  </a:txBody>
                  <a:tcPr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% Lotes c/ Polling</a:t>
                      </a:r>
                    </a:p>
                  </a:txBody>
                  <a:tcPr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Passos Otim.</a:t>
                      </a:r>
                    </a:p>
                  </a:txBody>
                  <a:tcPr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s/Época</a:t>
                      </a:r>
                    </a:p>
                  </a:txBody>
                  <a:tcPr anchor="ctr">
                    <a:solidFill>
                      <a:srgbClr val="9E1B3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Linha de 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105.600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2,50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Polling (replicado)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100%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528.000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9,10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</a:rPr>
                        <a:t>Polling Eficiente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5,05%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132.285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</a:rPr>
                        <a:t>2,79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raining_comparison_L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041" y="3749039"/>
            <a:ext cx="5425598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565392"/>
            <a:ext cx="109728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9/11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Otimização Eficiente da Taxa de Aprendizado por Polling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E1022"/>
                </a:solidFill>
              </a:rPr>
              <a:t>Onde o Custo se Concentra</a:t>
            </a:r>
          </a:p>
          <a:p>
            <a:r>
              <a:rPr sz="1600">
                <a:solidFill>
                  <a:srgbClr val="333333"/>
                </a:solidFill>
              </a:rPr>
              <a:t>Polls por época — Polling Eficiente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463040" cy="38100"/>
          </a:xfrm>
          <a:prstGeom prst="rect">
            <a:avLst/>
          </a:prstGeom>
          <a:solidFill>
            <a:srgbClr val="C9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lls_per_epo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96811"/>
            <a:ext cx="6035040" cy="3270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8288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</a:rPr>
              <a:t>Regime estável: ~11 polls/época (backoff saturado em K_max=64)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</a:rPr>
              <a:t>Pico isolado: 233 polls na época 33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– Exatamente quando a LR transita de alta para baixa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</a:rPr>
              <a:t>Total: apenas 5.337 de 105.600 lotes com polling (5,05%)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</a:rPr>
              <a:t>Nenhum rollback (Nível 2) foi acionado — só o Nível 1 (pico) foi necessário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565392"/>
            <a:ext cx="109728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FFFFFF"/>
                </a:solidFill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Otimização Eficiente da Taxa de Aprendizado por Polling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943411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Obrigado!</a:t>
            </a:r>
          </a:p>
          <a:p>
            <a:pPr algn="ctr"/>
            <a:r>
              <a:rPr sz="2200">
                <a:solidFill>
                  <a:srgbClr val="FFFFFF"/>
                </a:solidFill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Luiz Henrique  •  José Ronaldo  —  CIn/UFPE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